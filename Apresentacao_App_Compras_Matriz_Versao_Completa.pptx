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1280160"/>
            <a:ext cx="4389120" cy="384048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✦  ECOSSISTEMA INTEGRADO ALS 10 &amp; CONECTA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SISTEMA INTEGRADO DE COMPRAS,</a:t>
            </a:r>
            <a:br/>
            <a:r>
              <a:t>LIMITE DE PREÇO &amp; SEPARAÇÃO</a:t>
            </a:r>
          </a:p>
          <a:p>
            <a:pPr>
              <a:spcBef>
                <a:spcPts val="1000"/>
              </a:spcBef>
              <a:defRPr sz="1400">
                <a:solidFill>
                  <a:srgbClr val="94A3B8"/>
                </a:solidFill>
              </a:defRPr>
            </a:pPr>
            <a:r>
              <a:t>Plataforma Corporativa Completa: Portal Web de Gestão + App Mobile Multifunção com a identidade visual do App Érica.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4297680"/>
            <a:ext cx="2560320" cy="19202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1. Gestão Central Web</a:t>
            </a:r>
          </a:p>
          <a:p>
            <a:pPr>
              <a:spcBef>
                <a:spcPts val="600"/>
              </a:spcBef>
              <a:defRPr sz="1050">
                <a:solidFill>
                  <a:srgbClr val="CBD5E1"/>
                </a:solidFill>
              </a:defRPr>
            </a:pPr>
            <a:r>
              <a:t>Portal para PC com emissão de pedidos, cadastro de itens e controle financeiro.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4297680"/>
            <a:ext cx="2560320" cy="19202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2. Engenharia Fiscal</a:t>
            </a:r>
          </a:p>
          <a:p>
            <a:pPr>
              <a:spcBef>
                <a:spcPts val="600"/>
              </a:spcBef>
              <a:defRPr sz="1050">
                <a:solidFill>
                  <a:srgbClr val="CBD5E1"/>
                </a:solidFill>
              </a:defRPr>
            </a:pPr>
            <a:r>
              <a:t>Auditoria tributária em tempo real (ICMS, Créditos, Despesas e Margem PDV).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4297680"/>
            <a:ext cx="2560320" cy="19202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3. Rateio das 20 Lojas</a:t>
            </a:r>
          </a:p>
          <a:p>
            <a:pPr>
              <a:spcBef>
                <a:spcPts val="600"/>
              </a:spcBef>
              <a:defRPr sz="1050">
                <a:solidFill>
                  <a:srgbClr val="CBD5E1"/>
                </a:solidFill>
              </a:defRPr>
            </a:pPr>
            <a:r>
              <a:t>Distribuição matemática ponderada sem decimais quebrados para os grupos A, B e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23960" y="4297680"/>
            <a:ext cx="2560320" cy="19202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4. App Mobile Completo</a:t>
            </a:r>
          </a:p>
          <a:p>
            <a:pPr>
              <a:spcBef>
                <a:spcPts val="600"/>
              </a:spcBef>
              <a:defRPr sz="1050">
                <a:solidFill>
                  <a:srgbClr val="CBD5E1"/>
                </a:solidFill>
              </a:defRPr>
            </a:pPr>
            <a:r>
              <a:t>Mobilidade total para o comprador em viagens e romaneio digital sem papel no CD.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59669"/>
                </a:solidFill>
              </a:defRPr>
            </a:pPr>
            <a:r>
              <a:t>O DESAFIO ATUAL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Diagnóstico da Operação Atual (Planilha MATRIZ.xlsx)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Identificação dos gargalos operacionais no modelo de gestão baseado em planilhas.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2578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400" b="1">
                <a:solidFill>
                  <a:srgbClr val="DC2626"/>
                </a:solidFill>
              </a:defRPr>
            </a:pPr>
            <a:r>
              <a:t>⚠️ Fórmulas e Links Quebradiços</a:t>
            </a:r>
          </a:p>
          <a:p>
            <a:pPr>
              <a:spcBef>
                <a:spcPts val="800"/>
              </a:spcBef>
              <a:defRPr sz="1150">
                <a:solidFill>
                  <a:srgbClr val="64748B"/>
                </a:solidFill>
              </a:defRPr>
            </a:pPr>
            <a:r>
              <a:t>A planilha possui interligações manuais entre abas. Inserir novas linhas de produtos frequentemente corrompe fórmulas de totalização e rateio.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737360"/>
            <a:ext cx="52578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400" b="1">
                <a:solidFill>
                  <a:srgbClr val="DC2626"/>
                </a:solidFill>
              </a:defRPr>
            </a:pPr>
            <a:r>
              <a:t>🔢 Rateio com Decimais &amp; Ajuste Manual</a:t>
            </a:r>
          </a:p>
          <a:p>
            <a:pPr>
              <a:spcBef>
                <a:spcPts val="800"/>
              </a:spcBef>
              <a:defRPr sz="1150">
                <a:solidFill>
                  <a:srgbClr val="64748B"/>
                </a:solidFill>
              </a:defRPr>
            </a:pPr>
            <a:r>
              <a:t>A fórmula matemática divide peças em números quebrados (ex: 7,3 peças por loja), forçando o comprador a recalcular e arredondar loja a loja na mão.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2578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400" b="1">
                <a:solidFill>
                  <a:srgbClr val="DC2626"/>
                </a:solidFill>
              </a:defRPr>
            </a:pPr>
            <a:r>
              <a:t>📋 Retrabalho de Digitação Contínuo</a:t>
            </a:r>
          </a:p>
          <a:p>
            <a:pPr>
              <a:spcBef>
                <a:spcPts val="800"/>
              </a:spcBef>
              <a:defRPr sz="1150">
                <a:solidFill>
                  <a:srgbClr val="64748B"/>
                </a:solidFill>
              </a:defRPr>
            </a:pPr>
            <a:r>
              <a:t>Sem cadastro unificado de itens ou fornecedores, é necessário redigitar referências, descrições e dados fiscais a cada novo pedido emitido.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3931920"/>
            <a:ext cx="525780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400" b="1">
                <a:solidFill>
                  <a:srgbClr val="DC2626"/>
                </a:solidFill>
              </a:defRPr>
            </a:pPr>
            <a:r>
              <a:t>📄 Papel &amp; Falta de Mobilidade no CD</a:t>
            </a:r>
          </a:p>
          <a:p>
            <a:pPr>
              <a:spcBef>
                <a:spcPts val="800"/>
              </a:spcBef>
              <a:defRPr sz="1150">
                <a:solidFill>
                  <a:srgbClr val="64748B"/>
                </a:solidFill>
              </a:defRPr>
            </a:pPr>
            <a:r>
              <a:t>A separação das mercadorias depende de impressão em papel ou de levar notebook para o galpão, gerando riscos de erros no despacho.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59669"/>
                </a:solidFill>
              </a:defRPr>
            </a:pPr>
            <a:r>
              <a:t>ARQUITETURA DA SOLUÇÃO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A Nova Plataforma Integrada: Gestão no PC e Celular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Ambiente único em nuvem conectando o escritório de compras, viagens e a expedição do CD.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2578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defRPr sz="1550" b="1">
                <a:solidFill>
                  <a:srgbClr val="0F172A"/>
                </a:solidFill>
              </a:defRPr>
            </a:pPr>
            <a:r>
              <a:t>🖥️ Portal Web do Comprador &amp; Gestor</a:t>
            </a:r>
          </a:p>
          <a:p>
            <a:pPr>
              <a:spcBef>
                <a:spcPts val="200"/>
              </a:spcBef>
              <a:spcAft>
                <a:spcPts val="1200"/>
              </a:spcAft>
              <a:defRPr sz="1100" b="1">
                <a:solidFill>
                  <a:srgbClr val="059669"/>
                </a:solidFill>
              </a:defRPr>
            </a:pPr>
            <a:r>
              <a:t>Módulo Desktop / Navegador (PC do Escritório)</a:t>
            </a:r>
          </a:p>
          <a:p>
            <a:pPr>
              <a:spcBef>
                <a:spcPts val="600"/>
              </a:spcBef>
              <a:defRPr sz="1150">
                <a:solidFill>
                  <a:srgbClr val="0F172A"/>
                </a:solidFill>
              </a:defRPr>
            </a:pPr>
            <a:r>
              <a:t>✓  Cadastro mestre de Fornecedores e Catálogo de Produtos</a:t>
            </a:r>
          </a:p>
          <a:p>
            <a:pPr>
              <a:spcBef>
                <a:spcPts val="600"/>
              </a:spcBef>
              <a:defRPr sz="1150">
                <a:solidFill>
                  <a:srgbClr val="0F172A"/>
                </a:solidFill>
              </a:defRPr>
            </a:pPr>
            <a:r>
              <a:t>✓  Geração de Pedidos com embalagens fechadas e custos</a:t>
            </a:r>
          </a:p>
          <a:p>
            <a:pPr>
              <a:spcBef>
                <a:spcPts val="600"/>
              </a:spcBef>
              <a:defRPr sz="1150">
                <a:solidFill>
                  <a:srgbClr val="0F172A"/>
                </a:solidFill>
              </a:defRPr>
            </a:pPr>
            <a:r>
              <a:t>✓  Simulador fiscal automático de Custo Real e Limite de Preço</a:t>
            </a:r>
          </a:p>
          <a:p>
            <a:pPr>
              <a:spcBef>
                <a:spcPts val="600"/>
              </a:spcBef>
              <a:defRPr sz="1150">
                <a:solidFill>
                  <a:srgbClr val="0F172A"/>
                </a:solidFill>
              </a:defRPr>
            </a:pPr>
            <a:r>
              <a:t>✓  Motor de Rateio Inteligente para 20 lojas sem sobras</a:t>
            </a:r>
          </a:p>
          <a:p>
            <a:pPr>
              <a:spcBef>
                <a:spcPts val="600"/>
              </a:spcBef>
              <a:defRPr sz="1150">
                <a:solidFill>
                  <a:srgbClr val="0F172A"/>
                </a:solidFill>
              </a:defRPr>
            </a:pPr>
            <a:r>
              <a:t>✓  Exportação de Pedidos em PDF padronizado com 1 clique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737360"/>
            <a:ext cx="52578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defRPr sz="1550" b="1">
                <a:solidFill>
                  <a:srgbClr val="0F172A"/>
                </a:solidFill>
              </a:defRPr>
            </a:pPr>
            <a:r>
              <a:t>📱 App Mobile Multifunção (Padrão App Érica)</a:t>
            </a:r>
          </a:p>
          <a:p>
            <a:pPr>
              <a:spcBef>
                <a:spcPts val="200"/>
              </a:spcBef>
              <a:spcAft>
                <a:spcPts val="1200"/>
              </a:spcAft>
              <a:defRPr sz="1100" b="1">
                <a:solidFill>
                  <a:srgbClr val="059669"/>
                </a:solidFill>
              </a:defRPr>
            </a:pPr>
            <a:r>
              <a:t>Módulo Celular / Tablet Android (Gestão &amp; Galpão)</a:t>
            </a:r>
          </a:p>
          <a:p>
            <a:pPr>
              <a:spcBef>
                <a:spcPts val="600"/>
              </a:spcBef>
              <a:defRPr sz="1150">
                <a:solidFill>
                  <a:srgbClr val="0F172A"/>
                </a:solidFill>
              </a:defRPr>
            </a:pPr>
            <a:r>
              <a:t>✓  Lançamento de compras direto do celular em feiras/viagens</a:t>
            </a:r>
          </a:p>
          <a:p>
            <a:pPr>
              <a:spcBef>
                <a:spcPts val="600"/>
              </a:spcBef>
              <a:defRPr sz="1150">
                <a:solidFill>
                  <a:srgbClr val="0F172A"/>
                </a:solidFill>
              </a:defRPr>
            </a:pPr>
            <a:r>
              <a:t>✓  Consulta de histórico de compras na mesa do fornecedor</a:t>
            </a:r>
          </a:p>
          <a:p>
            <a:pPr>
              <a:spcBef>
                <a:spcPts val="600"/>
              </a:spcBef>
              <a:defRPr sz="1150">
                <a:solidFill>
                  <a:srgbClr val="0F172A"/>
                </a:solidFill>
              </a:defRPr>
            </a:pPr>
            <a:r>
              <a:t>✓  Romaneio digital por filial na tela do operador no CD</a:t>
            </a:r>
          </a:p>
          <a:p>
            <a:pPr>
              <a:spcBef>
                <a:spcPts val="600"/>
              </a:spcBef>
              <a:defRPr sz="1150">
                <a:solidFill>
                  <a:srgbClr val="0F172A"/>
                </a:solidFill>
              </a:defRPr>
            </a:pPr>
            <a:r>
              <a:t>✓  Checklist de separação por volume/caixa sem papel</a:t>
            </a:r>
          </a:p>
          <a:p>
            <a:pPr>
              <a:spcBef>
                <a:spcPts val="600"/>
              </a:spcBef>
              <a:defRPr sz="1150">
                <a:solidFill>
                  <a:srgbClr val="0F172A"/>
                </a:solidFill>
              </a:defRPr>
            </a:pPr>
            <a:r>
              <a:t>✓  Funciona 100% sem internet no estoque (zero travamentos)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59669"/>
                </a:solidFill>
              </a:defRPr>
            </a:pPr>
            <a:r>
              <a:t>PORTAL DO COMPRADOR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Módulo Web: Painel de Pedidos &amp; Engenharia Fiscal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Interface desktop com tabela ampla para digitação rápida e auditoria fiscal integrada.</a:t>
            </a:r>
          </a:p>
        </p:txBody>
      </p:sp>
      <p:pic>
        <p:nvPicPr>
          <p:cNvPr id="5" name="Picture 4" descr="sistema_web_desktop_ui_17872338880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91640"/>
            <a:ext cx="7132320" cy="398083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046720" y="1691640"/>
            <a:ext cx="338328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400" b="1">
                <a:solidFill>
                  <a:srgbClr val="059669"/>
                </a:solidFill>
              </a:defRPr>
            </a:pPr>
            <a:r>
              <a:t>Diferenciais do Portal: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</a:defRPr>
            </a:pPr>
            <a:r>
              <a:t>✓ Multiplicador de Caixas: Qtd no Pec × Qtd Pec = Qtd Total calculado na hora.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</a:defRPr>
            </a:pPr>
            <a:r>
              <a:t>✓ Auditoria Fiscal Lateral: ICMS (11%), Crédito (19.5%) e Custo Efetivo instantâneo.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</a:defRPr>
            </a:pPr>
            <a:r>
              <a:t>✓ Selo de Margem: Alerta visual verde confirmando viabilidade de venda no PDV.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</a:defRPr>
            </a:pPr>
            <a:r>
              <a:t>✓ Exportação Direta: Espelho do pedido em PDF padronizado para o fornecedor.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59669"/>
                </a:solidFill>
              </a:defRPr>
            </a:pPr>
            <a:r>
              <a:t>LIMITE DE PREÇO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Engenharia Tributária: Custo Real &amp; Margem Líquida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Parametrização automática das regras fiscais para blindar a lucratividade do negócio.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10698480" cy="1325880"/>
          </a:xfrm>
          <a:prstGeom prst="roundRect">
            <a:avLst/>
          </a:prstGeom>
          <a:solidFill>
            <a:srgbClr val="F0FDF4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37160"/>
          <a:lstStyle/>
          <a:p>
            <a:pPr algn="ctr">
              <a:defRPr sz="1100" b="1">
                <a:solidFill>
                  <a:srgbClr val="059669"/>
                </a:solidFill>
              </a:defRPr>
            </a:pPr>
            <a:r>
              <a:t>FÓRMULA AUTOMÁTICA DE CUSTO REAL EFETIVO:</a:t>
            </a:r>
          </a:p>
          <a:p>
            <a:pPr>
              <a:spcBef>
                <a:spcPts val="400"/>
              </a:spcBef>
              <a:defRPr sz="1350" b="1">
                <a:solidFill>
                  <a:srgbClr val="0F172A"/>
                </a:solidFill>
              </a:defRPr>
            </a:pPr>
            <a:r>
              <a:t>Custo Total Produto = Valor Compra + (PDV × % Despesas Fixas/Impostos) - (Valor Compra × % Crédito ICMS)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91840"/>
            <a:ext cx="347472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300" b="1">
                <a:solidFill>
                  <a:srgbClr val="059669"/>
                </a:solidFill>
              </a:defRPr>
            </a:pPr>
            <a:r>
              <a:t>🛡️ Parametrização Tributária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</a:defRPr>
            </a:pPr>
            <a:r>
              <a:t>Configuração de ICMS (11%), PIS/COFINS (3%), Custos Fixos (26%) e Crédito de Entrada (19,5%) sem risco de fórmulas desconfiguradas.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3291840"/>
            <a:ext cx="347472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300" b="1">
                <a:solidFill>
                  <a:srgbClr val="059669"/>
                </a:solidFill>
              </a:defRPr>
            </a:pPr>
            <a:r>
              <a:t>🎯 Validador de Margem PDV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</a:defRPr>
            </a:pPr>
            <a:r>
              <a:t>Alerta visual instantâneo: Verde (Margem Saudável), Amarelo (Margem Apertada) e Vermelho (Preço de compra inviabiliza a venda no teto do PDV).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3291840"/>
            <a:ext cx="347472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defRPr sz="1300" b="1">
                <a:solidFill>
                  <a:srgbClr val="059669"/>
                </a:solidFill>
              </a:defRPr>
            </a:pPr>
            <a:r>
              <a:t>📊 Apoio à Negociação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</a:defRPr>
            </a:pPr>
            <a:r>
              <a:t>O comprador sabe exatamente até quanto pode pagar no fornecedor para manter a lucratividade padrão da rede.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59669"/>
                </a:solidFill>
              </a:defRPr>
            </a:pPr>
            <a:r>
              <a:t>RATEIO AUTOMÁTICO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Motor de Rateio Inteligente para 20 Lojas (Sem Decimais)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Substitui a "Calculadora", distribuindo produtos pelos pesos ponderados sem frações.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34747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400" b="1">
                <a:solidFill>
                  <a:srgbClr val="DC2626"/>
                </a:solidFill>
              </a:defRPr>
            </a:pPr>
            <a:r>
              <a:t>GRUPO A (8 LOJAS)</a:t>
            </a:r>
          </a:p>
          <a:p>
            <a:pPr>
              <a:spcBef>
                <a:spcPts val="200"/>
              </a:spcBef>
              <a:spcAft>
                <a:spcPts val="1000"/>
              </a:spcAft>
              <a:defRPr sz="1000" b="1">
                <a:solidFill>
                  <a:srgbClr val="64748B"/>
                </a:solidFill>
              </a:defRPr>
            </a:pPr>
            <a:r>
              <a:t>Peso: 2.5 | 20 Pontos Ponderados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Ponta Grossa Centro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Reserva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Tibagi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Nova Rússia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Javert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Ivaí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Irati Centro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Campo Largo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737360"/>
            <a:ext cx="34747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GRUPO B (8 LOJAS)</a:t>
            </a:r>
          </a:p>
          <a:p>
            <a:pPr>
              <a:spcBef>
                <a:spcPts val="200"/>
              </a:spcBef>
              <a:spcAft>
                <a:spcPts val="1000"/>
              </a:spcAft>
              <a:defRPr sz="1000" b="1">
                <a:solidFill>
                  <a:srgbClr val="64748B"/>
                </a:solidFill>
              </a:defRPr>
            </a:pPr>
            <a:r>
              <a:t>Peso: 1.75 | 14 Pontos Ponderados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Castro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Imbituva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Santa Paula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Prudentópolis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Guarapuava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Imbaú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Rio Azul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Rebouças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80" y="1737360"/>
            <a:ext cx="34747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400" b="1">
                <a:solidFill>
                  <a:srgbClr val="059669"/>
                </a:solidFill>
              </a:defRPr>
            </a:pPr>
            <a:r>
              <a:t>GRUPO C (4 LOJAS)</a:t>
            </a:r>
          </a:p>
          <a:p>
            <a:pPr>
              <a:spcBef>
                <a:spcPts val="200"/>
              </a:spcBef>
              <a:spcAft>
                <a:spcPts val="1000"/>
              </a:spcAft>
              <a:defRPr sz="1000" b="1">
                <a:solidFill>
                  <a:srgbClr val="64748B"/>
                </a:solidFill>
              </a:defRPr>
            </a:pPr>
            <a:r>
              <a:t>Peso: 1.25 | 5 Pontos Ponderados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Depósito Central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Teixeira Soares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Mallet</a:t>
            </a:r>
          </a:p>
          <a:p>
            <a:pPr>
              <a:spcBef>
                <a:spcPts val="400"/>
              </a:spcBef>
              <a:defRPr sz="1100">
                <a:solidFill>
                  <a:srgbClr val="0F172A"/>
                </a:solidFill>
              </a:defRPr>
            </a:pPr>
            <a:r>
              <a:t>• Ipiranga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59669"/>
                </a:solidFill>
              </a:defRPr>
            </a:pPr>
            <a:r>
              <a:t>APLICATIVO MOBILE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App Mobile Multifunção: Compras em Viagens &amp; Romaneio no CD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Visual idêntico ao App Érica: Emerald Green, botões rápidos, intuitivo e com modo offline.</a:t>
            </a:r>
          </a:p>
        </p:txBody>
      </p:sp>
      <p:pic>
        <p:nvPicPr>
          <p:cNvPr id="5" name="Picture 4" descr="app_compras_mobile_ui_178723385684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91640"/>
            <a:ext cx="2560320" cy="4587240"/>
          </a:xfrm>
          <a:prstGeom prst="rect">
            <a:avLst/>
          </a:prstGeom>
        </p:spPr>
      </p:pic>
      <p:pic>
        <p:nvPicPr>
          <p:cNvPr id="6" name="Picture 5" descr="app_separacao_mobile_ui_178723387119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0440" y="1691640"/>
            <a:ext cx="2560320" cy="45872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309360" y="1691640"/>
            <a:ext cx="51206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✦ Funcionalidades no Celular / Tablet:</a:t>
            </a:r>
          </a:p>
          <a:p>
            <a:pPr>
              <a:spcBef>
                <a:spcPts val="800"/>
              </a:spcBef>
              <a:defRPr sz="1150">
                <a:solidFill>
                  <a:srgbClr val="64748B"/>
                </a:solidFill>
              </a:defRPr>
            </a:pPr>
            <a:r>
              <a:t>✓ Compras em Viagens: O Rafael lança pedidos e simula margens direto na mesa do fornecedor em feiras.</a:t>
            </a:r>
          </a:p>
          <a:p>
            <a:pPr>
              <a:spcBef>
                <a:spcPts val="800"/>
              </a:spcBef>
              <a:defRPr sz="1150">
                <a:solidFill>
                  <a:srgbClr val="64748B"/>
                </a:solidFill>
              </a:defRPr>
            </a:pPr>
            <a:r>
              <a:t>✓ Envio por WhatsApp: Compartilha o PDF do pedido no mesmo instante com o representante.</a:t>
            </a:r>
          </a:p>
          <a:p>
            <a:pPr>
              <a:spcBef>
                <a:spcPts val="800"/>
              </a:spcBef>
              <a:defRPr sz="1150">
                <a:solidFill>
                  <a:srgbClr val="64748B"/>
                </a:solidFill>
              </a:defRPr>
            </a:pPr>
            <a:r>
              <a:t>✓ Romaneio Digital no CD: O separador visualiza a quantidade de cada loja sem usar prancheta de papel.</a:t>
            </a:r>
          </a:p>
          <a:p>
            <a:pPr>
              <a:spcBef>
                <a:spcPts val="800"/>
              </a:spcBef>
              <a:defRPr sz="1150">
                <a:solidFill>
                  <a:srgbClr val="64748B"/>
                </a:solidFill>
              </a:defRPr>
            </a:pPr>
            <a:r>
              <a:t>✓ Zero Travamentos: Funciona 100% offline no depósito e sincroniza sozinho quando tiver internet.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59669"/>
                </a:solidFill>
              </a:defRPr>
            </a:pPr>
            <a:r>
              <a:t>BENEFÍCIOS REAIS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Quadro Comparativo: Planilha Matriz vs. Novo Sistema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Resumo das melhorias operacionais, ganhos de tempo e eliminação de riscos.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1069848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4069080"/>
                <a:gridCol w="4069080"/>
              </a:tblGrid>
              <a:tr h="6400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Funcionalidade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Planilha Atual (MATRIZ.xlsx)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Novo Sistema Web &amp; App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Cálculo de Rateio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B91C1C"/>
                          </a:solidFill>
                        </a:defRPr>
                      </a:pPr>
                      <a:r>
                        <a:t>Gera frações decimais; arredondamento manual.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59669"/>
                          </a:solidFill>
                        </a:defRPr>
                      </a:pPr>
                      <a:r>
                        <a:t>Rateio inteligente com compensação automática.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Segurança de Fórmulas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B91C1C"/>
                          </a:solidFill>
                        </a:defRPr>
                      </a:pPr>
                      <a:r>
                        <a:t>Alto risco de apagar linhas ou quebrar vínculos.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59669"/>
                          </a:solidFill>
                        </a:defRPr>
                      </a:pPr>
                      <a:r>
                        <a:t>Regras 100% blindadas e seguras no servidor.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Cadastro de Produtos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B91C1C"/>
                          </a:solidFill>
                        </a:defRPr>
                      </a:pPr>
                      <a:r>
                        <a:t>Redigitação manual de código e descrição.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59669"/>
                          </a:solidFill>
                        </a:defRPr>
                      </a:pPr>
                      <a:r>
                        <a:t>Catálogo centralizado com autocomplete e histórico.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Separação no Estoque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B91C1C"/>
                          </a:solidFill>
                        </a:defRPr>
                      </a:pPr>
                      <a:r>
                        <a:t>Impressão em folhas de papel ou uso de notebook.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59669"/>
                          </a:solidFill>
                        </a:defRPr>
                      </a:pPr>
                      <a:r>
                        <a:t>App Mobile dedicado na mão do separador.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Análise de Margem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B91C1C"/>
                          </a:solidFill>
                        </a:defRPr>
                      </a:pPr>
                      <a:r>
                        <a:t>Cálculo isolado que exige conferência manual.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59669"/>
                          </a:solidFill>
                        </a:defRPr>
                      </a:pPr>
                      <a:r>
                        <a:t>Auditoria instantânea de preço e teto de compra.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Visual &amp; Experiência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B91C1C"/>
                          </a:solidFill>
                        </a:defRPr>
                      </a:pPr>
                      <a:r>
                        <a:t>Tabelas cinzas padrão Excel.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59669"/>
                          </a:solidFill>
                        </a:defRPr>
                      </a:pPr>
                      <a:r>
                        <a:t>Padrão visual App Érica (Emerald Green / Dark).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59669"/>
                </a:solidFill>
              </a:defRPr>
            </a:pPr>
            <a:r>
              <a:t>ENTREGA EM 5 SEMANAS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Planejamento e Cronograma de Desenvolvimento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Metodologia ágil com entregas incrementais e validações práticas semanais.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205740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0"/>
          <a:lstStyle/>
          <a:p>
            <a:pPr algn="ctr">
              <a:defRPr sz="1100" b="1">
                <a:solidFill>
                  <a:srgbClr val="059669"/>
                </a:solidFill>
              </a:defRPr>
            </a:pPr>
            <a:r>
              <a:t>SEMANA 1</a:t>
            </a:r>
          </a:p>
          <a:p>
            <a:pPr>
              <a:spcBef>
                <a:spcPts val="400"/>
              </a:spcBef>
              <a:defRPr sz="1300" b="1">
                <a:solidFill>
                  <a:srgbClr val="0F172A"/>
                </a:solidFill>
              </a:defRPr>
            </a:pPr>
            <a:r>
              <a:t>Arquitetura &amp; Design</a:t>
            </a:r>
          </a:p>
          <a:p>
            <a:pPr>
              <a:spcBef>
                <a:spcPts val="800"/>
              </a:spcBef>
              <a:defRPr sz="1050">
                <a:solidFill>
                  <a:srgbClr val="64748B"/>
                </a:solidFill>
              </a:defRPr>
            </a:pPr>
            <a:r>
              <a:t>Estruturação do banco de dados, regras fiscais e aplicação do Design System do App Érica.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07791" y="1920240"/>
            <a:ext cx="205740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0"/>
          <a:lstStyle/>
          <a:p>
            <a:pPr algn="ctr">
              <a:defRPr sz="1100" b="1">
                <a:solidFill>
                  <a:srgbClr val="059669"/>
                </a:solidFill>
              </a:defRPr>
            </a:pPr>
            <a:r>
              <a:t>SEMANA 2</a:t>
            </a:r>
          </a:p>
          <a:p>
            <a:pPr>
              <a:spcBef>
                <a:spcPts val="400"/>
              </a:spcBef>
              <a:defRPr sz="1300" b="1">
                <a:solidFill>
                  <a:srgbClr val="0F172A"/>
                </a:solidFill>
              </a:defRPr>
            </a:pPr>
            <a:r>
              <a:t>Compras &amp; Pedidos</a:t>
            </a:r>
          </a:p>
          <a:p>
            <a:pPr>
              <a:spcBef>
                <a:spcPts val="800"/>
              </a:spcBef>
              <a:defRPr sz="1050">
                <a:solidFill>
                  <a:srgbClr val="64748B"/>
                </a:solidFill>
              </a:defRPr>
            </a:pPr>
            <a:r>
              <a:t>Módulo Web de emissão de pedidos, cadastro de fornecedores e geração de PDFs oficiais.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84064" y="1920240"/>
            <a:ext cx="205740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0"/>
          <a:lstStyle/>
          <a:p>
            <a:pPr algn="ctr">
              <a:defRPr sz="1100" b="1">
                <a:solidFill>
                  <a:srgbClr val="059669"/>
                </a:solidFill>
              </a:defRPr>
            </a:pPr>
            <a:r>
              <a:t>SEMANA 3</a:t>
            </a:r>
          </a:p>
          <a:p>
            <a:pPr>
              <a:spcBef>
                <a:spcPts val="400"/>
              </a:spcBef>
              <a:defRPr sz="1300" b="1">
                <a:solidFill>
                  <a:srgbClr val="0F172A"/>
                </a:solidFill>
              </a:defRPr>
            </a:pPr>
            <a:r>
              <a:t>Fiscal &amp; Rateio 20 Lojas</a:t>
            </a:r>
          </a:p>
          <a:p>
            <a:pPr>
              <a:spcBef>
                <a:spcPts val="800"/>
              </a:spcBef>
              <a:defRPr sz="1050">
                <a:solidFill>
                  <a:srgbClr val="64748B"/>
                </a:solidFill>
              </a:defRPr>
            </a:pPr>
            <a:r>
              <a:t>Implementação do simulador de Limite de Preço e algoritmo de rateio inteligente dos clusters A, B e 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60336" y="1920240"/>
            <a:ext cx="205740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0"/>
          <a:lstStyle/>
          <a:p>
            <a:pPr algn="ctr">
              <a:defRPr sz="1100" b="1">
                <a:solidFill>
                  <a:srgbClr val="059669"/>
                </a:solidFill>
              </a:defRPr>
            </a:pPr>
            <a:r>
              <a:t>SEMANA 4</a:t>
            </a:r>
          </a:p>
          <a:p>
            <a:pPr>
              <a:spcBef>
                <a:spcPts val="400"/>
              </a:spcBef>
              <a:defRPr sz="1300" b="1">
                <a:solidFill>
                  <a:srgbClr val="0F172A"/>
                </a:solidFill>
              </a:defRPr>
            </a:pPr>
            <a:r>
              <a:t>App Mobile Multifunção</a:t>
            </a:r>
          </a:p>
          <a:p>
            <a:pPr>
              <a:spcBef>
                <a:spcPts val="800"/>
              </a:spcBef>
              <a:defRPr sz="1050">
                <a:solidFill>
                  <a:srgbClr val="64748B"/>
                </a:solidFill>
              </a:defRPr>
            </a:pPr>
            <a:r>
              <a:t>Desenvolvimento do aplicativo Android para compras em viagens e conferência no CD.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436608" y="1920240"/>
            <a:ext cx="205740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0"/>
          <a:lstStyle/>
          <a:p>
            <a:pPr algn="ctr">
              <a:defRPr sz="1100" b="1">
                <a:solidFill>
                  <a:srgbClr val="059669"/>
                </a:solidFill>
              </a:defRPr>
            </a:pPr>
            <a:r>
              <a:t>SEMANA 5</a:t>
            </a:r>
          </a:p>
          <a:p>
            <a:pPr>
              <a:spcBef>
                <a:spcPts val="400"/>
              </a:spcBef>
              <a:defRPr sz="1300" b="1">
                <a:solidFill>
                  <a:srgbClr val="0F172A"/>
                </a:solidFill>
              </a:defRPr>
            </a:pPr>
            <a:r>
              <a:t>Homologação &amp; Go-Live</a:t>
            </a:r>
          </a:p>
          <a:p>
            <a:pPr>
              <a:spcBef>
                <a:spcPts val="800"/>
              </a:spcBef>
              <a:defRPr sz="1050">
                <a:solidFill>
                  <a:srgbClr val="64748B"/>
                </a:solidFill>
              </a:defRPr>
            </a:pPr>
            <a:r>
              <a:t>Testes com pedidos reais, treinamento da equipe e ativação oficial em produção.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PROPOSTA COMERCIAL ROBUSTA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Investimento da Versão Completa (Recomendada)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Escopo total com Portal Web, App Mobile Multifunção, Servidor em Nuvem e Suporte.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257800" cy="448056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Opção 1: À Vista (com 10% Desconto)</a:t>
            </a:r>
          </a:p>
          <a:p>
            <a:pPr>
              <a:spcBef>
                <a:spcPts val="400"/>
              </a:spcBef>
              <a:spcAft>
                <a:spcPts val="1200"/>
              </a:spcAft>
              <a:defRPr sz="2800" b="1">
                <a:solidFill>
                  <a:srgbClr val="10B981"/>
                </a:solidFill>
              </a:defRPr>
            </a:pPr>
            <a:r>
              <a:t>R$ 5.800,00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</a:defRPr>
            </a:pPr>
            <a:r>
              <a:t>✦  50% de entrada no início do projeto (R$ 2.900)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</a:defRPr>
            </a:pPr>
            <a:r>
              <a:t>✦  50% na entrega e homologação final (R$ 2.900)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</a:defRPr>
            </a:pPr>
            <a:r>
              <a:t>✦  Economia direta de R$ 700,00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</a:defRPr>
            </a:pPr>
            <a:r>
              <a:t>✦  Prioridade máxima no cronograma de desenvolvimento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737360"/>
            <a:ext cx="5257800" cy="4480560"/>
          </a:xfrm>
          <a:prstGeom prst="roundRect">
            <a:avLst/>
          </a:prstGeom>
          <a:solidFill>
            <a:srgbClr val="1E293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Opção 2: Parcelado em 3x</a:t>
            </a:r>
          </a:p>
          <a:p>
            <a:pPr>
              <a:spcBef>
                <a:spcPts val="400"/>
              </a:spcBef>
              <a:spcAft>
                <a:spcPts val="1200"/>
              </a:spcAft>
              <a:defRPr sz="2800" b="1">
                <a:solidFill>
                  <a:srgbClr val="F59E0B"/>
                </a:solidFill>
              </a:defRPr>
            </a:pPr>
            <a:r>
              <a:t>R$ 6.500,00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</a:defRPr>
            </a:pPr>
            <a:r>
              <a:t>✦  Entrada de R$ 2.200,00 no início do projeto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</a:defRPr>
            </a:pPr>
            <a:r>
              <a:t>✦  2ª Parcela de R$ 2.150,00 em 30 dias (entrega módulos Web)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</a:defRPr>
            </a:pPr>
            <a:r>
              <a:t>✦  3ª Parcela de R$ 2.150,00 em 60 dias (pós Go-Live e App)</a:t>
            </a:r>
          </a:p>
          <a:p>
            <a:pPr>
              <a:spcBef>
                <a:spcPts val="600"/>
              </a:spcBef>
              <a:defRPr sz="1200">
                <a:solidFill>
                  <a:srgbClr val="CBD5E1"/>
                </a:solidFill>
              </a:defRPr>
            </a:pPr>
            <a:r>
              <a:t>✦  Investimento diluído por marcos de entrega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